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Batches per second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CSR DataSplitter</c:v>
                </c:pt>
                <c:pt idx="1">
                  <c:v>Zarr streaming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13.2</c:v>
                </c:pt>
                <c:pt idx="1">
                  <c:v>104.2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600" b="1">
                <a:solidFill>
                  <a:srgbClr val="222222"/>
                </a:solidFill>
              </a:defRPr>
            </a:pPr>
            <a:r>
              <a:t>MultiVI at Atlas Scale:</a:t>
            </a:r>
            <a:br/>
            <a:r>
              <a:t>Zarr Streaming in scvi-tools-2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0040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0">
                <a:solidFill>
                  <a:srgbClr val="222222"/>
                </a:solidFill>
              </a:defRPr>
            </a:pPr>
            <a:r>
              <a:t>Bounded-memory training + dense ADT lazy loading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222222"/>
                </a:solidFill>
              </a:defRPr>
            </a:pPr>
            <a:r>
              <a:t>scvi-tools-2 vs upstream scvi-tools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11535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3000" b="1">
                <a:solidFill>
                  <a:srgbClr val="222222"/>
                </a:solidFill>
              </a:defRPr>
            </a:pPr>
            <a:r>
              <a:t>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11535" cy="5349240"/>
          </a:xfrm>
          <a:prstGeom prst="rect">
            <a:avLst/>
          </a:prstGeom>
          <a:noFill/>
        </p:spPr>
        <p:txBody>
          <a:bodyPr wrap="square" lIns="45720" rIns="45720"/>
          <a:lstStyle/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Two major changes in scvi-tools-2</a:t>
            </a:r>
          </a:p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1. Zarr-backed streaming dataloader</a:t>
            </a:r>
          </a:p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2. Dense ADT zarr.Array with mixed RNA CSR + ADT dense layouts</a:t>
            </a:r>
          </a:p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Agenda: Problem → Architecture → ADT memory → Benchmarks → Usage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11535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3000" b="1">
                <a:solidFill>
                  <a:srgbClr val="222222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11535" cy="5349240"/>
          </a:xfrm>
          <a:prstGeom prst="rect">
            <a:avLst/>
          </a:prstGeom>
          <a:noFill/>
        </p:spPr>
        <p:txBody>
          <a:bodyPr wrap="square" lIns="45720" rIns="45720"/>
          <a:lstStyle/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Atlas-scale MuData (10–20M cells) cannot fit all modality matrices in RAM</a:t>
            </a:r>
          </a:p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RNA: sparse counts work well as zarr-backed CSR</a:t>
            </a:r>
          </a:p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ADT / protein: effectively dense; CSR is a poor fit at this scale</a:t>
            </a:r>
          </a:p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MultiVI training still requires dense minibatches on GPU</a:t>
            </a:r>
          </a:p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Default DataSplitter does not scale the same way for multi-modality zarr MuData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11535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3000" b="1">
                <a:solidFill>
                  <a:srgbClr val="222222"/>
                </a:solidFill>
              </a:defRPr>
            </a:pPr>
            <a:r>
              <a:t>Change 1: Zarr Streaming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11535" cy="5349240"/>
          </a:xfrm>
          <a:prstGeom prst="rect">
            <a:avLst/>
          </a:prstGeom>
          <a:noFill/>
        </p:spPr>
        <p:txBody>
          <a:bodyPr wrap="square" lIns="45720" rIns="45720"/>
          <a:lstStyle/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New in scvi-tools-2 (not upstream scvi-tools):</a:t>
            </a:r>
          </a:p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ZarrDataset — IterableDataset with sorted block reads + shuffle buffer</a:t>
            </a:r>
          </a:p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ZarrMultiVIDataModule — Lightning datamodule for MultiVI</a:t>
            </a:r>
          </a:p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MULTIVI.train() auto-selects zarr datamodule for fully zarr-backed MuData</a:t>
            </a:r>
          </a:p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Pipeline: zarr store → block reads → shuffle buffer → minibatch → train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11535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3000" b="1">
                <a:solidFill>
                  <a:srgbClr val="222222"/>
                </a:solidFill>
              </a:defRPr>
            </a:pPr>
            <a:r>
              <a:t>How Streaming Achieves 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11535" cy="5349240"/>
          </a:xfrm>
          <a:prstGeom prst="rect">
            <a:avLst/>
          </a:prstGeom>
          <a:noFill/>
        </p:spPr>
        <p:txBody>
          <a:bodyPr wrap="square" lIns="45720" rIns="45720"/>
          <a:lstStyle/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Sorted within-block reads avoid random zarr seeks</a:t>
            </a:r>
          </a:p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Shuffle buffer holds block_size × shuffle_buffer_blocks rows, not full data</a:t>
            </a:r>
          </a:p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Workers reopen zarr via picklable ZarrMatrixSource descriptors</a:t>
            </a:r>
          </a:p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DDP: disjoint per-rank slices with equal batch counts</a:t>
            </a:r>
          </a:p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Defaults: block_size=4096, shuffle_buffer_blocks=16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11535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3000" b="1">
                <a:solidFill>
                  <a:srgbClr val="222222"/>
                </a:solidFill>
              </a:defRPr>
            </a:pPr>
            <a:r>
              <a:t>Change 2: Dense ADT Memory (Table)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25880"/>
          <a:ext cx="10911534" cy="1700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3637178"/>
                <a:gridCol w="3637178"/>
              </a:tblGrid>
              <a:tr h="566928">
                <a:tc>
                  <a:txBody>
                    <a:bodyPr wrap="square" lIns="54864" rIns="54864" tIns="36576" bIns="36576"/>
                    <a:lstStyle/>
                    <a:p>
                      <a:pPr>
                        <a:spcAft>
                          <a:spcPts val="600"/>
                        </a:spcAft>
                        <a:defRPr sz="1300" b="1">
                          <a:solidFill>
                            <a:srgbClr val="222222"/>
                          </a:solidFill>
                        </a:defRPr>
                      </a:pPr>
                      <a:r>
                        <a:t>Scale</a:t>
                      </a:r>
                    </a:p>
                  </a:txBody>
                  <a:tcPr anchor="ctr"/>
                </a:tc>
                <a:tc>
                  <a:txBody>
                    <a:bodyPr wrap="square" lIns="54864" rIns="54864" tIns="36576" bIns="36576"/>
                    <a:lstStyle/>
                    <a:p>
                      <a:pPr>
                        <a:spcAft>
                          <a:spcPts val="600"/>
                        </a:spcAft>
                        <a:defRPr sz="1300" b="1">
                          <a:solidFill>
                            <a:srgbClr val="222222"/>
                          </a:solidFill>
                        </a:defRPr>
                      </a:pPr>
                      <a:r>
                        <a:t>Full dense ADT in RAM</a:t>
                      </a:r>
                    </a:p>
                  </a:txBody>
                  <a:tcPr anchor="ctr"/>
                </a:tc>
                <a:tc>
                  <a:txBody>
                    <a:bodyPr wrap="square" lIns="54864" rIns="54864" tIns="36576" bIns="36576"/>
                    <a:lstStyle/>
                    <a:p>
                      <a:pPr>
                        <a:spcAft>
                          <a:spcPts val="600"/>
                        </a:spcAft>
                        <a:defRPr sz="1300" b="1">
                          <a:solidFill>
                            <a:srgbClr val="222222"/>
                          </a:solidFill>
                        </a:defRPr>
                      </a:pPr>
                      <a:r>
                        <a:t>Zarr block (4096 rows)</a:t>
                      </a:r>
                    </a:p>
                  </a:txBody>
                  <a:tcPr anchor="ctr"/>
                </a:tc>
              </a:tr>
              <a:tr h="566928">
                <a:tc>
                  <a:txBody>
                    <a:bodyPr wrap="square" lIns="54864" rIns="54864" tIns="36576" bIns="36576"/>
                    <a:lstStyle/>
                    <a:p>
                      <a:pPr>
                        <a:spcAft>
                          <a:spcPts val="600"/>
                        </a:spcAft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10M cells × 300 ADTs</a:t>
                      </a:r>
                    </a:p>
                  </a:txBody>
                  <a:tcPr anchor="ctr"/>
                </a:tc>
                <a:tc>
                  <a:txBody>
                    <a:bodyPr wrap="square" lIns="54864" rIns="54864" tIns="36576" bIns="36576"/>
                    <a:lstStyle/>
                    <a:p>
                      <a:pPr>
                        <a:spcAft>
                          <a:spcPts val="600"/>
                        </a:spcAft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~12 GB (float32)</a:t>
                      </a:r>
                    </a:p>
                  </a:txBody>
                  <a:tcPr anchor="ctr"/>
                </a:tc>
                <a:tc>
                  <a:txBody>
                    <a:bodyPr wrap="square" lIns="54864" rIns="54864" tIns="36576" bIns="36576"/>
                    <a:lstStyle/>
                    <a:p>
                      <a:pPr>
                        <a:spcAft>
                          <a:spcPts val="600"/>
                        </a:spcAft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~5 MB per block</a:t>
                      </a:r>
                    </a:p>
                  </a:txBody>
                  <a:tcPr anchor="ctr"/>
                </a:tc>
              </a:tr>
              <a:tr h="566928">
                <a:tc>
                  <a:txBody>
                    <a:bodyPr wrap="square" lIns="54864" rIns="54864" tIns="36576" bIns="36576"/>
                    <a:lstStyle/>
                    <a:p>
                      <a:pPr>
                        <a:spcAft>
                          <a:spcPts val="600"/>
                        </a:spcAft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20M cells × 300 ADTs</a:t>
                      </a:r>
                    </a:p>
                  </a:txBody>
                  <a:tcPr anchor="ctr"/>
                </a:tc>
                <a:tc>
                  <a:txBody>
                    <a:bodyPr wrap="square" lIns="54864" rIns="54864" tIns="36576" bIns="36576"/>
                    <a:lstStyle/>
                    <a:p>
                      <a:pPr>
                        <a:spcAft>
                          <a:spcPts val="600"/>
                        </a:spcAft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~24 GB (float32)</a:t>
                      </a:r>
                    </a:p>
                  </a:txBody>
                  <a:tcPr anchor="ctr"/>
                </a:tc>
                <a:tc>
                  <a:txBody>
                    <a:bodyPr wrap="square" lIns="54864" rIns="54864" tIns="36576" bIns="36576"/>
                    <a:lstStyle/>
                    <a:p>
                      <a:pPr>
                        <a:spcAft>
                          <a:spcPts val="600"/>
                        </a:spcAft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~5 MB per block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11535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3000" b="1">
                <a:solidFill>
                  <a:srgbClr val="222222"/>
                </a:solidFill>
              </a:defRPr>
            </a:pPr>
            <a:r>
              <a:t>Change 2: Dense ADT Memory (Notes)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11535" cy="5349240"/>
          </a:xfrm>
          <a:prstGeom prst="rect">
            <a:avLst/>
          </a:prstGeom>
          <a:noFill/>
        </p:spPr>
        <p:txBody>
          <a:bodyPr wrap="square" lIns="45720" rIns="45720"/>
          <a:lstStyle/>
          <a:p>
            <a:pPr>
              <a:spcAft>
                <a:spcPts val="600"/>
              </a:spcAft>
              <a:defRPr sz="1200" b="0">
                <a:solidFill>
                  <a:srgbClr val="222222"/>
                </a:solidFill>
              </a:defRPr>
            </a:pPr>
            <a:r>
              <a:t>At 10–20M cells, loading full ADT into RAM blows memory</a:t>
            </a:r>
          </a:p>
          <a:p>
            <a:pPr>
              <a:spcAft>
                <a:spcPts val="600"/>
              </a:spcAft>
              <a:defRPr sz="1200" b="0">
                <a:solidFill>
                  <a:srgbClr val="222222"/>
                </a:solidFill>
              </a:defRPr>
            </a:pPr>
            <a:r>
              <a:t>Backed dense zarr.Array lazy-loads only rows for the current block/batch</a:t>
            </a:r>
          </a:p>
          <a:p>
            <a:pPr>
              <a:spcAft>
                <a:spcPts val="600"/>
              </a:spcAft>
              <a:defRPr sz="1200" b="0">
                <a:solidFill>
                  <a:srgbClr val="222222"/>
                </a:solidFill>
              </a:defRPr>
            </a:pPr>
            <a:r>
              <a:t>ADT is dense-ish: CSR adds index overhead without benefit</a:t>
            </a:r>
          </a:p>
          <a:p>
            <a:pPr>
              <a:spcAft>
                <a:spcPts val="600"/>
              </a:spcAft>
              <a:defRPr sz="1200" b="0">
                <a:solidFill>
                  <a:srgbClr val="222222"/>
                </a:solidFill>
              </a:defRPr>
            </a:pPr>
            <a:r>
              <a:t>Use matrix_layout='auto' for RNA CSR + ADT dense on .X</a:t>
            </a:r>
          </a:p>
          <a:p>
            <a:pPr>
              <a:spcAft>
                <a:spcPts val="600"/>
              </a:spcAft>
              <a:defRPr sz="1200" b="0">
                <a:solidFill>
                  <a:srgbClr val="222222"/>
                </a:solidFill>
              </a:defRPr>
            </a:pPr>
            <a:r>
              <a:t>Caveat: from_backed_mudata() defaults to 'csr'; MULTIVI.train auto-path uses 'auto'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11535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3000" b="1">
                <a:solidFill>
                  <a:srgbClr val="222222"/>
                </a:solidFill>
              </a:defRPr>
            </a:pPr>
            <a:r>
              <a:t>What Changed in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11535" cy="5349240"/>
          </a:xfrm>
          <a:prstGeom prst="rect">
            <a:avLst/>
          </a:prstGeom>
          <a:noFill/>
        </p:spPr>
        <p:txBody>
          <a:bodyPr wrap="square" lIns="45720" rIns="45720"/>
          <a:lstStyle/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New: _zarr_dataset.py, _zarr_datamodule.py</a:t>
            </a:r>
          </a:p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MULTIVI.train(): auto zarr datamodule + reload_dataloaders_every_n_epochs=1</a:t>
            </a:r>
          </a:p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zarr.Array support in count validation helpers</a:t>
            </a:r>
          </a:p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Docs: docs/user_guide/use_case/zarr_multivi_streaming.md</a:t>
            </a:r>
          </a:p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Commits: fcd3b31d8, 1c2c96273, 517c16aad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11535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3000" b="1">
                <a:solidFill>
                  <a:srgbClr val="222222"/>
                </a:solidFill>
              </a:defRPr>
            </a:pPr>
            <a:r>
              <a:t>Benchmark: CSR vs Zarr (Results)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25880"/>
          <a:ext cx="1091153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566928">
                <a:tc>
                  <a:txBody>
                    <a:bodyPr wrap="square" lIns="54864" rIns="54864" tIns="36576" bIns="36576"/>
                    <a:lstStyle/>
                    <a:p>
                      <a:pPr>
                        <a:spcAft>
                          <a:spcPts val="600"/>
                        </a:spcAft>
                        <a:defRPr sz="1300" b="1">
                          <a:solidFill>
                            <a:srgbClr val="222222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 anchor="ctr"/>
                </a:tc>
                <a:tc>
                  <a:txBody>
                    <a:bodyPr wrap="square" lIns="54864" rIns="54864" tIns="36576" bIns="36576"/>
                    <a:lstStyle/>
                    <a:p>
                      <a:pPr>
                        <a:spcAft>
                          <a:spcPts val="600"/>
                        </a:spcAft>
                        <a:defRPr sz="1300" b="1">
                          <a:solidFill>
                            <a:srgbClr val="222222"/>
                          </a:solidFill>
                        </a:defRPr>
                      </a:pPr>
                      <a:r>
                        <a:t>CSR DataSplitter</a:t>
                      </a:r>
                    </a:p>
                  </a:txBody>
                  <a:tcPr anchor="ctr"/>
                </a:tc>
                <a:tc>
                  <a:txBody>
                    <a:bodyPr wrap="square" lIns="54864" rIns="54864" tIns="36576" bIns="36576"/>
                    <a:lstStyle/>
                    <a:p>
                      <a:pPr>
                        <a:spcAft>
                          <a:spcPts val="600"/>
                        </a:spcAft>
                        <a:defRPr sz="1300" b="1">
                          <a:solidFill>
                            <a:srgbClr val="222222"/>
                          </a:solidFill>
                        </a:defRPr>
                      </a:pPr>
                      <a:r>
                        <a:t>Zarr streaming</a:t>
                      </a:r>
                    </a:p>
                  </a:txBody>
                  <a:tcPr anchor="ctr"/>
                </a:tc>
                <a:tc>
                  <a:txBody>
                    <a:bodyPr wrap="square" lIns="54864" rIns="54864" tIns="36576" bIns="36576"/>
                    <a:lstStyle/>
                    <a:p>
                      <a:pPr>
                        <a:spcAft>
                          <a:spcPts val="600"/>
                        </a:spcAft>
                        <a:defRPr sz="1300" b="1">
                          <a:solidFill>
                            <a:srgbClr val="222222"/>
                          </a:solidFill>
                        </a:defRPr>
                      </a:pPr>
                      <a:r>
                        <a:t>Speedup</a:t>
                      </a:r>
                    </a:p>
                  </a:txBody>
                  <a:tcPr anchor="ctr"/>
                </a:tc>
              </a:tr>
              <a:tr h="566928">
                <a:tc>
                  <a:txBody>
                    <a:bodyPr wrap="square" lIns="54864" rIns="54864" tIns="36576" bIns="36576"/>
                    <a:lstStyle/>
                    <a:p>
                      <a:pPr>
                        <a:spcAft>
                          <a:spcPts val="600"/>
                        </a:spcAft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Loader batches/s (steady)</a:t>
                      </a:r>
                    </a:p>
                  </a:txBody>
                  <a:tcPr anchor="ctr"/>
                </a:tc>
                <a:tc>
                  <a:txBody>
                    <a:bodyPr wrap="square" lIns="54864" rIns="54864" tIns="36576" bIns="36576"/>
                    <a:lstStyle/>
                    <a:p>
                      <a:pPr>
                        <a:spcAft>
                          <a:spcPts val="600"/>
                        </a:spcAft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13.2</a:t>
                      </a:r>
                    </a:p>
                  </a:txBody>
                  <a:tcPr anchor="ctr"/>
                </a:tc>
                <a:tc>
                  <a:txBody>
                    <a:bodyPr wrap="square" lIns="54864" rIns="54864" tIns="36576" bIns="36576"/>
                    <a:lstStyle/>
                    <a:p>
                      <a:pPr>
                        <a:spcAft>
                          <a:spcPts val="600"/>
                        </a:spcAft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104.2</a:t>
                      </a:r>
                    </a:p>
                  </a:txBody>
                  <a:tcPr anchor="ctr"/>
                </a:tc>
                <a:tc>
                  <a:txBody>
                    <a:bodyPr wrap="square" lIns="54864" rIns="54864" tIns="36576" bIns="36576"/>
                    <a:lstStyle/>
                    <a:p>
                      <a:pPr>
                        <a:spcAft>
                          <a:spcPts val="600"/>
                        </a:spcAft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7.9×</a:t>
                      </a:r>
                    </a:p>
                  </a:txBody>
                  <a:tcPr anchor="ctr"/>
                </a:tc>
              </a:tr>
              <a:tr h="566928">
                <a:tc>
                  <a:txBody>
                    <a:bodyPr wrap="square" lIns="54864" rIns="54864" tIns="36576" bIns="36576"/>
                    <a:lstStyle/>
                    <a:p>
                      <a:pPr>
                        <a:spcAft>
                          <a:spcPts val="600"/>
                        </a:spcAft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Training batches/s</a:t>
                      </a:r>
                    </a:p>
                  </a:txBody>
                  <a:tcPr anchor="ctr"/>
                </a:tc>
                <a:tc>
                  <a:txBody>
                    <a:bodyPr wrap="square" lIns="54864" rIns="54864" tIns="36576" bIns="36576"/>
                    <a:lstStyle/>
                    <a:p>
                      <a:pPr>
                        <a:spcAft>
                          <a:spcPts val="600"/>
                        </a:spcAft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4.6</a:t>
                      </a:r>
                    </a:p>
                  </a:txBody>
                  <a:tcPr anchor="ctr"/>
                </a:tc>
                <a:tc>
                  <a:txBody>
                    <a:bodyPr wrap="square" lIns="54864" rIns="54864" tIns="36576" bIns="36576"/>
                    <a:lstStyle/>
                    <a:p>
                      <a:pPr>
                        <a:spcAft>
                          <a:spcPts val="600"/>
                        </a:spcAft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7.2</a:t>
                      </a:r>
                    </a:p>
                  </a:txBody>
                  <a:tcPr anchor="ctr"/>
                </a:tc>
                <a:tc>
                  <a:txBody>
                    <a:bodyPr wrap="square" lIns="54864" rIns="54864" tIns="36576" bIns="36576"/>
                    <a:lstStyle/>
                    <a:p>
                      <a:pPr>
                        <a:spcAft>
                          <a:spcPts val="600"/>
                        </a:spcAft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1.55×</a:t>
                      </a:r>
                    </a:p>
                  </a:txBody>
                  <a:tcPr anchor="ctr"/>
                </a:tc>
              </a:tr>
              <a:tr h="566928">
                <a:tc>
                  <a:txBody>
                    <a:bodyPr wrap="square" lIns="54864" rIns="54864" tIns="36576" bIns="36576"/>
                    <a:lstStyle/>
                    <a:p>
                      <a:pPr>
                        <a:spcAft>
                          <a:spcPts val="600"/>
                        </a:spcAft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Wall time (100 batches)</a:t>
                      </a:r>
                    </a:p>
                  </a:txBody>
                  <a:tcPr anchor="ctr"/>
                </a:tc>
                <a:tc>
                  <a:txBody>
                    <a:bodyPr wrap="square" lIns="54864" rIns="54864" tIns="36576" bIns="36576"/>
                    <a:lstStyle/>
                    <a:p>
                      <a:pPr>
                        <a:spcAft>
                          <a:spcPts val="600"/>
                        </a:spcAft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21.6 s</a:t>
                      </a:r>
                    </a:p>
                  </a:txBody>
                  <a:tcPr anchor="ctr"/>
                </a:tc>
                <a:tc>
                  <a:txBody>
                    <a:bodyPr wrap="square" lIns="54864" rIns="54864" tIns="36576" bIns="36576"/>
                    <a:lstStyle/>
                    <a:p>
                      <a:pPr>
                        <a:spcAft>
                          <a:spcPts val="600"/>
                        </a:spcAft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13.9 s</a:t>
                      </a:r>
                    </a:p>
                  </a:txBody>
                  <a:tcPr anchor="ctr"/>
                </a:tc>
                <a:tc>
                  <a:txBody>
                    <a:bodyPr wrap="square" lIns="54864" rIns="54864" tIns="36576" bIns="36576"/>
                    <a:lstStyle/>
                    <a:p>
                      <a:pPr>
                        <a:spcAft>
                          <a:spcPts val="600"/>
                        </a:spcAft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1.55×</a:t>
                      </a:r>
                    </a:p>
                  </a:txBody>
                  <a:tcPr anchor="ctr"/>
                </a:tc>
              </a:tr>
              <a:tr h="566928">
                <a:tc>
                  <a:txBody>
                    <a:bodyPr wrap="square" lIns="54864" rIns="54864" tIns="36576" bIns="36576"/>
                    <a:lstStyle/>
                    <a:p>
                      <a:pPr>
                        <a:spcAft>
                          <a:spcPts val="600"/>
                        </a:spcAft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First-batch latency</a:t>
                      </a:r>
                    </a:p>
                  </a:txBody>
                  <a:tcPr anchor="ctr"/>
                </a:tc>
                <a:tc>
                  <a:txBody>
                    <a:bodyPr wrap="square" lIns="54864" rIns="54864" tIns="36576" bIns="36576"/>
                    <a:lstStyle/>
                    <a:p>
                      <a:pPr>
                        <a:spcAft>
                          <a:spcPts val="600"/>
                        </a:spcAft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0.79 s</a:t>
                      </a:r>
                    </a:p>
                  </a:txBody>
                  <a:tcPr anchor="ctr"/>
                </a:tc>
                <a:tc>
                  <a:txBody>
                    <a:bodyPr wrap="square" lIns="54864" rIns="54864" tIns="36576" bIns="36576"/>
                    <a:lstStyle/>
                    <a:p>
                      <a:pPr>
                        <a:spcAft>
                          <a:spcPts val="600"/>
                        </a:spcAft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1.62 s</a:t>
                      </a:r>
                    </a:p>
                  </a:txBody>
                  <a:tcPr anchor="ctr"/>
                </a:tc>
                <a:tc>
                  <a:txBody>
                    <a:bodyPr wrap="square" lIns="54864" rIns="54864" tIns="36576" bIns="36576"/>
                    <a:lstStyle/>
                    <a:p>
                      <a:pPr>
                        <a:spcAft>
                          <a:spcPts val="600"/>
                        </a:spcAft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CSR faster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11535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3000" b="1">
                <a:solidFill>
                  <a:srgbClr val="222222"/>
                </a:solidFill>
              </a:defRPr>
            </a:pPr>
            <a:r>
              <a:t>Benchmark: CSR vs Zarr (Setup)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11535" cy="5349240"/>
          </a:xfrm>
          <a:prstGeom prst="rect">
            <a:avLst/>
          </a:prstGeom>
          <a:noFill/>
        </p:spPr>
        <p:txBody>
          <a:bodyPr wrap="square" lIns="45720" rIns="45720"/>
          <a:lstStyle/>
          <a:p>
            <a:pPr>
              <a:spcAft>
                <a:spcPts val="600"/>
              </a:spcAft>
              <a:defRPr sz="1200" b="0">
                <a:solidFill>
                  <a:srgbClr val="222222"/>
                </a:solidFill>
              </a:defRPr>
            </a:pPr>
            <a:r>
              <a:t>Source: scripts/benchmark_multivi_csr_vs_zarr_wsl_results.json</a:t>
            </a:r>
          </a:p>
          <a:p>
            <a:pPr>
              <a:spcAft>
                <a:spcPts val="600"/>
              </a:spcAft>
              <a:defRPr sz="1200" b="0">
                <a:solidFill>
                  <a:srgbClr val="222222"/>
                </a:solidFill>
              </a:defRPr>
            </a:pPr>
            <a:r>
              <a:t>19,200 cells; 2,000 genes + 2,000 ATAC regions</a:t>
            </a:r>
          </a:p>
          <a:p>
            <a:pPr>
              <a:spcAft>
                <a:spcPts val="600"/>
              </a:spcAft>
              <a:defRPr sz="1200" b="0">
                <a:solidFill>
                  <a:srgbClr val="222222"/>
                </a:solidFill>
              </a:defRPr>
            </a:pPr>
            <a:r>
              <a:t>GPU: RTX 2000 Ada; pin_memory=True; prefetch_to_gpu=True</a:t>
            </a:r>
          </a:p>
          <a:p>
            <a:pPr>
              <a:spcAft>
                <a:spcPts val="600"/>
              </a:spcAft>
              <a:defRPr sz="1200" b="0">
                <a:solidFill>
                  <a:srgbClr val="222222"/>
                </a:solidFill>
              </a:defRPr>
            </a:pPr>
            <a:r>
              <a:t>Zarr wins sustained throughput and total training time</a:t>
            </a:r>
          </a:p>
          <a:p>
            <a:pPr>
              <a:spcAft>
                <a:spcPts val="600"/>
              </a:spcAft>
              <a:defRPr sz="1200" b="0">
                <a:solidFill>
                  <a:srgbClr val="222222"/>
                </a:solidFill>
              </a:defRPr>
            </a:pPr>
            <a:r>
              <a:t>First batch slower due to zarr reopen / worker startup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11535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3000" b="1">
                <a:solidFill>
                  <a:srgbClr val="222222"/>
                </a:solidFill>
              </a:defRPr>
            </a:pPr>
            <a:r>
              <a:t>Benchmark Chart: Loader Throughput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417320"/>
          <a:ext cx="10911535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4937760"/>
            <a:ext cx="10911535" cy="1600200"/>
          </a:xfrm>
          <a:prstGeom prst="rect">
            <a:avLst/>
          </a:prstGeom>
          <a:noFill/>
        </p:spPr>
        <p:txBody>
          <a:bodyPr wrap="square" lIns="45720" rIns="45720"/>
          <a:lstStyle/>
          <a:p>
            <a:pPr>
              <a:spcAft>
                <a:spcPts val="600"/>
              </a:spcAft>
              <a:defRPr sz="1200" b="0">
                <a:solidFill>
                  <a:srgbClr val="222222"/>
                </a:solidFill>
              </a:defRPr>
            </a:pPr>
            <a:r>
              <a:t>~7.9× higher steady-state loader throughput with ZarrMultiVIDataModule</a:t>
            </a:r>
          </a:p>
          <a:p>
            <a:pPr>
              <a:spcAft>
                <a:spcPts val="600"/>
              </a:spcAft>
              <a:defRPr sz="1200" b="0">
                <a:solidFill>
                  <a:srgbClr val="222222"/>
                </a:solidFill>
              </a:defRPr>
            </a:pPr>
            <a:r>
              <a:t>End-to-end training speedup ~1.55× because GPU compute dominates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11535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3000" b="1">
                <a:solidFill>
                  <a:srgbClr val="222222"/>
                </a:solidFill>
              </a:defRPr>
            </a:pPr>
            <a:r>
              <a:t>Benchmark: Loader Prefetch / Tuning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25880"/>
          <a:ext cx="10911532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566928">
                <a:tc>
                  <a:txBody>
                    <a:bodyPr wrap="square" lIns="54864" rIns="54864" tIns="36576" bIns="36576"/>
                    <a:lstStyle/>
                    <a:p>
                      <a:pPr>
                        <a:spcAft>
                          <a:spcPts val="600"/>
                        </a:spcAft>
                        <a:defRPr sz="1300" b="1">
                          <a:solidFill>
                            <a:srgbClr val="222222"/>
                          </a:solidFill>
                        </a:defRPr>
                      </a:pPr>
                      <a:r>
                        <a:t>Config</a:t>
                      </a:r>
                    </a:p>
                  </a:txBody>
                  <a:tcPr anchor="ctr"/>
                </a:tc>
                <a:tc>
                  <a:txBody>
                    <a:bodyPr wrap="square" lIns="54864" rIns="54864" tIns="36576" bIns="36576"/>
                    <a:lstStyle/>
                    <a:p>
                      <a:pPr>
                        <a:spcAft>
                          <a:spcPts val="600"/>
                        </a:spcAft>
                        <a:defRPr sz="1300" b="1">
                          <a:solidFill>
                            <a:srgbClr val="222222"/>
                          </a:solidFill>
                        </a:defRPr>
                      </a:pPr>
                      <a:r>
                        <a:t>Wall (150 batches)</a:t>
                      </a:r>
                    </a:p>
                  </a:txBody>
                  <a:tcPr anchor="ctr"/>
                </a:tc>
                <a:tc>
                  <a:txBody>
                    <a:bodyPr wrap="square" lIns="54864" rIns="54864" tIns="36576" bIns="36576"/>
                    <a:lstStyle/>
                    <a:p>
                      <a:pPr>
                        <a:spcAft>
                          <a:spcPts val="600"/>
                        </a:spcAft>
                        <a:defRPr sz="1300" b="1">
                          <a:solidFill>
                            <a:srgbClr val="222222"/>
                          </a:solidFill>
                        </a:defRPr>
                      </a:pPr>
                      <a:r>
                        <a:t>Loader wait</a:t>
                      </a:r>
                    </a:p>
                  </a:txBody>
                  <a:tcPr anchor="ctr"/>
                </a:tc>
                <a:tc>
                  <a:txBody>
                    <a:bodyPr wrap="square" lIns="54864" rIns="54864" tIns="36576" bIns="36576"/>
                    <a:lstStyle/>
                    <a:p>
                      <a:pPr>
                        <a:spcAft>
                          <a:spcPts val="600"/>
                        </a:spcAft>
                        <a:defRPr sz="1300" b="1">
                          <a:solidFill>
                            <a:srgbClr val="222222"/>
                          </a:solidFill>
                        </a:defRPr>
                      </a:pPr>
                      <a:r>
                        <a:t>Batches/s</a:t>
                      </a:r>
                    </a:p>
                  </a:txBody>
                  <a:tcPr anchor="ctr"/>
                </a:tc>
              </a:tr>
              <a:tr h="566928">
                <a:tc>
                  <a:txBody>
                    <a:bodyPr wrap="square" lIns="54864" rIns="54864" tIns="36576" bIns="36576"/>
                    <a:lstStyle/>
                    <a:p>
                      <a:pPr>
                        <a:spcAft>
                          <a:spcPts val="600"/>
                        </a:spcAft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Baseline (num_workers=0)</a:t>
                      </a:r>
                    </a:p>
                  </a:txBody>
                  <a:tcPr anchor="ctr"/>
                </a:tc>
                <a:tc>
                  <a:txBody>
                    <a:bodyPr wrap="square" lIns="54864" rIns="54864" tIns="36576" bIns="36576"/>
                    <a:lstStyle/>
                    <a:p>
                      <a:pPr>
                        <a:spcAft>
                          <a:spcPts val="600"/>
                        </a:spcAft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21.9 s</a:t>
                      </a:r>
                    </a:p>
                  </a:txBody>
                  <a:tcPr anchor="ctr"/>
                </a:tc>
                <a:tc>
                  <a:txBody>
                    <a:bodyPr wrap="square" lIns="54864" rIns="54864" tIns="36576" bIns="36576"/>
                    <a:lstStyle/>
                    <a:p>
                      <a:pPr>
                        <a:spcAft>
                          <a:spcPts val="600"/>
                        </a:spcAft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1.30 s</a:t>
                      </a:r>
                    </a:p>
                  </a:txBody>
                  <a:tcPr anchor="ctr"/>
                </a:tc>
                <a:tc>
                  <a:txBody>
                    <a:bodyPr wrap="square" lIns="54864" rIns="54864" tIns="36576" bIns="36576"/>
                    <a:lstStyle/>
                    <a:p>
                      <a:pPr>
                        <a:spcAft>
                          <a:spcPts val="600"/>
                        </a:spcAft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6.85</a:t>
                      </a:r>
                    </a:p>
                  </a:txBody>
                  <a:tcPr anchor="ctr"/>
                </a:tc>
              </a:tr>
              <a:tr h="566928">
                <a:tc>
                  <a:txBody>
                    <a:bodyPr wrap="square" lIns="54864" rIns="54864" tIns="36576" bIns="36576"/>
                    <a:lstStyle/>
                    <a:p>
                      <a:pPr>
                        <a:spcAft>
                          <a:spcPts val="600"/>
                        </a:spcAft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Workers + pin_memory</a:t>
                      </a:r>
                    </a:p>
                  </a:txBody>
                  <a:tcPr anchor="ctr"/>
                </a:tc>
                <a:tc>
                  <a:txBody>
                    <a:bodyPr wrap="square" lIns="54864" rIns="54864" tIns="36576" bIns="36576"/>
                    <a:lstStyle/>
                    <a:p>
                      <a:pPr>
                        <a:spcAft>
                          <a:spcPts val="600"/>
                        </a:spcAft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18.8 s</a:t>
                      </a:r>
                    </a:p>
                  </a:txBody>
                  <a:tcPr anchor="ctr"/>
                </a:tc>
                <a:tc>
                  <a:txBody>
                    <a:bodyPr wrap="square" lIns="54864" rIns="54864" tIns="36576" bIns="36576"/>
                    <a:lstStyle/>
                    <a:p>
                      <a:pPr>
                        <a:spcAft>
                          <a:spcPts val="600"/>
                        </a:spcAft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0.16 s</a:t>
                      </a:r>
                    </a:p>
                  </a:txBody>
                  <a:tcPr anchor="ctr"/>
                </a:tc>
                <a:tc>
                  <a:txBody>
                    <a:bodyPr wrap="square" lIns="54864" rIns="54864" tIns="36576" bIns="36576"/>
                    <a:lstStyle/>
                    <a:p>
                      <a:pPr>
                        <a:spcAft>
                          <a:spcPts val="600"/>
                        </a:spcAft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7.96</a:t>
                      </a:r>
                    </a:p>
                  </a:txBody>
                  <a:tcPr anchor="ctr"/>
                </a:tc>
              </a:tr>
              <a:tr h="566928">
                <a:tc>
                  <a:txBody>
                    <a:bodyPr wrap="square" lIns="54864" rIns="54864" tIns="36576" bIns="36576"/>
                    <a:lstStyle/>
                    <a:p>
                      <a:pPr>
                        <a:spcAft>
                          <a:spcPts val="600"/>
                        </a:spcAft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Large batch (512)</a:t>
                      </a:r>
                    </a:p>
                  </a:txBody>
                  <a:tcPr anchor="ctr"/>
                </a:tc>
                <a:tc>
                  <a:txBody>
                    <a:bodyPr wrap="square" lIns="54864" rIns="54864" tIns="36576" bIns="36576"/>
                    <a:lstStyle/>
                    <a:p>
                      <a:pPr>
                        <a:spcAft>
                          <a:spcPts val="600"/>
                        </a:spcAft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5.9 s</a:t>
                      </a:r>
                    </a:p>
                  </a:txBody>
                  <a:tcPr anchor="ctr"/>
                </a:tc>
                <a:tc>
                  <a:txBody>
                    <a:bodyPr wrap="square" lIns="54864" rIns="54864" tIns="36576" bIns="36576"/>
                    <a:lstStyle/>
                    <a:p>
                      <a:pPr>
                        <a:spcAft>
                          <a:spcPts val="600"/>
                        </a:spcAft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0.19 s</a:t>
                      </a:r>
                    </a:p>
                  </a:txBody>
                  <a:tcPr anchor="ctr"/>
                </a:tc>
                <a:tc>
                  <a:txBody>
                    <a:bodyPr wrap="square" lIns="54864" rIns="54864" tIns="36576" bIns="36576"/>
                    <a:lstStyle/>
                    <a:p>
                      <a:pPr>
                        <a:spcAft>
                          <a:spcPts val="600"/>
                        </a:spcAft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25.3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11535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3000" b="1">
                <a:solidFill>
                  <a:srgbClr val="222222"/>
                </a:solidFill>
              </a:defRPr>
            </a:pPr>
            <a:r>
              <a:t>Benchmark: Prefetch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11535" cy="5349240"/>
          </a:xfrm>
          <a:prstGeom prst="rect">
            <a:avLst/>
          </a:prstGeom>
          <a:noFill/>
        </p:spPr>
        <p:txBody>
          <a:bodyPr wrap="square" lIns="45720" rIns="45720"/>
          <a:lstStyle/>
          <a:p>
            <a:pPr>
              <a:spcAft>
                <a:spcPts val="600"/>
              </a:spcAft>
              <a:defRPr sz="1200" b="0">
                <a:solidFill>
                  <a:srgbClr val="222222"/>
                </a:solidFill>
              </a:defRPr>
            </a:pPr>
            <a:r>
              <a:t>Source: scripts/benchmark_multivi_idle_gap_wsl_results.json</a:t>
            </a:r>
          </a:p>
          <a:p>
            <a:pPr>
              <a:spcAft>
                <a:spcPts val="600"/>
              </a:spcAft>
              <a:defRPr sz="1200" b="0">
                <a:solidFill>
                  <a:srgbClr val="222222"/>
                </a:solidFill>
              </a:defRPr>
            </a:pPr>
            <a:r>
              <a:t>Same ~19k-cell synthetic trimodal MuData on GPU</a:t>
            </a:r>
          </a:p>
          <a:p>
            <a:pPr>
              <a:spcAft>
                <a:spcPts val="600"/>
              </a:spcAft>
              <a:defRPr sz="1200" b="0">
                <a:solidFill>
                  <a:srgbClr val="222222"/>
                </a:solidFill>
              </a:defRPr>
            </a:pPr>
            <a:r>
              <a:t>num_workers + pin_memory sharply reduces GPU idle waiting</a:t>
            </a:r>
          </a:p>
          <a:p>
            <a:pPr>
              <a:spcAft>
                <a:spcPts val="600"/>
              </a:spcAft>
              <a:defRPr sz="1200" b="0">
                <a:solidFill>
                  <a:srgbClr val="222222"/>
                </a:solidFill>
              </a:defRPr>
            </a:pPr>
            <a:r>
              <a:t>Batch size has a large effect on throughput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11535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3000" b="1">
                <a:solidFill>
                  <a:srgbClr val="222222"/>
                </a:solidFill>
              </a:defRPr>
            </a:pPr>
            <a:r>
              <a:t>Positioning vs TileDB-SOMA / CZI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11535" cy="5349240"/>
          </a:xfrm>
          <a:prstGeom prst="rect">
            <a:avLst/>
          </a:prstGeom>
          <a:noFill/>
        </p:spPr>
        <p:txBody>
          <a:bodyPr wrap="square" lIns="45720" rIns="45720"/>
          <a:lstStyle/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Shared goal: bounded memory + high-throughput streaming</a:t>
            </a:r>
          </a:p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Zarr: MuData zarr stores, MultiVI, mixed CSR + dense modalities</a:t>
            </a:r>
          </a:p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TileDB-SOMA: Census-scale SCVI/SCANVI via SOMA queries</a:t>
            </a:r>
          </a:p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Choose Zarr when atlases are already in mudata.write_zarr format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11535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3000" b="1">
                <a:solidFill>
                  <a:srgbClr val="222222"/>
                </a:solidFill>
              </a:defRPr>
            </a:pPr>
            <a:r>
              <a:t>How to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11535" cy="5349240"/>
          </a:xfrm>
          <a:prstGeom prst="rect">
            <a:avLst/>
          </a:prstGeom>
          <a:noFill/>
        </p:spPr>
        <p:txBody>
          <a:bodyPr wrap="square" lIns="45720" rIns="45720"/>
          <a:lstStyle/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Write MuData to zarr and reopen with backed modality .X</a:t>
            </a:r>
          </a:p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MULTIVI.setup_mudata(...) with correct modality mapping</a:t>
            </a:r>
          </a:p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Mixed RNA + ADT: from_backed_mudata(..., matrix_layout='auto', store_dir=...)</a:t>
            </a:r>
          </a:p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Or model.train(...) on fully zarr-backed MuData (auto datamodule)</a:t>
            </a:r>
          </a:p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Tune: block_size, shuffle_buffer_blocks, num_workers, pin_memory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11535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3000" b="1">
                <a:solidFill>
                  <a:srgbClr val="222222"/>
                </a:solidFill>
              </a:defRPr>
            </a:pPr>
            <a: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11535" cy="5349240"/>
          </a:xfrm>
          <a:prstGeom prst="rect">
            <a:avLst/>
          </a:prstGeom>
          <a:noFill/>
        </p:spPr>
        <p:txBody>
          <a:bodyPr wrap="square" lIns="45720" rIns="45720"/>
          <a:lstStyle/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EXPERIMENTAL — MultiVI only</a:t>
            </a:r>
          </a:p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No categorical / continuous covariates yet</a:t>
            </a:r>
          </a:p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CSR modalities densified per batch before GPU (expected)</a:t>
            </a:r>
          </a:p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Windows often needs num_workers=0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11535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3000" b="1">
                <a:solidFill>
                  <a:srgbClr val="222222"/>
                </a:solidFill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11535" cy="5349240"/>
          </a:xfrm>
          <a:prstGeom prst="rect">
            <a:avLst/>
          </a:prstGeom>
          <a:noFill/>
        </p:spPr>
        <p:txBody>
          <a:bodyPr wrap="square" lIns="45720" rIns="45720"/>
          <a:lstStyle/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Pillar 1: Zarr streaming for bounded-memory MultiVI training</a:t>
            </a:r>
          </a:p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Pillar 2: Dense ADT zarr.Array for 10–20M-cell lazy loading</a:t>
            </a:r>
          </a:p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Headline benchmarks: 7.9× loader throughput; 1.55× training speedup</a:t>
            </a:r>
          </a:p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Next: 10M+ cell ADT benchmarks, API docs, tutorial notebook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